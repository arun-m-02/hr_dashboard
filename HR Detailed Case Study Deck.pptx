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68" r:id="rId2"/>
    <p:sldId id="256" r:id="rId3"/>
    <p:sldId id="271" r:id="rId4"/>
    <p:sldId id="272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F0CC1057-8F2F-4C27-8E3C-16B9441144C9}" type="datetimeFigureOut">
              <a:rPr lang="en-US" smtClean="0"/>
              <a:t>29-Nov-25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55B40953-2ABC-4218-A8F8-77087D708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907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C1057-8F2F-4C27-8E3C-16B9441144C9}" type="datetimeFigureOut">
              <a:rPr lang="en-US" smtClean="0"/>
              <a:t>29-Nov-25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0953-2ABC-4218-A8F8-77087D708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032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C1057-8F2F-4C27-8E3C-16B9441144C9}" type="datetimeFigureOut">
              <a:rPr lang="en-US" smtClean="0"/>
              <a:t>29-Nov-25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0953-2ABC-4218-A8F8-77087D708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59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C1057-8F2F-4C27-8E3C-16B9441144C9}" type="datetimeFigureOut">
              <a:rPr lang="en-US" smtClean="0"/>
              <a:t>29-Nov-25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0953-2ABC-4218-A8F8-77087D708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8603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C1057-8F2F-4C27-8E3C-16B9441144C9}" type="datetimeFigureOut">
              <a:rPr lang="en-US" smtClean="0"/>
              <a:t>29-Nov-25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0953-2ABC-4218-A8F8-77087D708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2988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C1057-8F2F-4C27-8E3C-16B9441144C9}" type="datetimeFigureOut">
              <a:rPr lang="en-US" smtClean="0"/>
              <a:t>29-Nov-25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0953-2ABC-4218-A8F8-77087D708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2446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C1057-8F2F-4C27-8E3C-16B9441144C9}" type="datetimeFigureOut">
              <a:rPr lang="en-US" smtClean="0"/>
              <a:t>29-Nov-25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0953-2ABC-4218-A8F8-77087D708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7609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C1057-8F2F-4C27-8E3C-16B9441144C9}" type="datetimeFigureOut">
              <a:rPr lang="en-US" smtClean="0"/>
              <a:t>29-Nov-25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0953-2ABC-4218-A8F8-77087D708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201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C1057-8F2F-4C27-8E3C-16B9441144C9}" type="datetimeFigureOut">
              <a:rPr lang="en-US" smtClean="0"/>
              <a:t>29-Nov-25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0953-2ABC-4218-A8F8-77087D708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284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C1057-8F2F-4C27-8E3C-16B9441144C9}" type="datetimeFigureOut">
              <a:rPr lang="en-US" smtClean="0"/>
              <a:t>29-Nov-25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0953-2ABC-4218-A8F8-77087D708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276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C1057-8F2F-4C27-8E3C-16B9441144C9}" type="datetimeFigureOut">
              <a:rPr lang="en-US" smtClean="0"/>
              <a:t>29-Nov-25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0953-2ABC-4218-A8F8-77087D708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5734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C1057-8F2F-4C27-8E3C-16B9441144C9}" type="datetimeFigureOut">
              <a:rPr lang="en-US" smtClean="0"/>
              <a:t>29-Nov-25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0953-2ABC-4218-A8F8-77087D708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2282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C1057-8F2F-4C27-8E3C-16B9441144C9}" type="datetimeFigureOut">
              <a:rPr lang="en-US" smtClean="0"/>
              <a:t>29-Nov-25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0953-2ABC-4218-A8F8-77087D708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6033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C1057-8F2F-4C27-8E3C-16B9441144C9}" type="datetimeFigureOut">
              <a:rPr lang="en-US" smtClean="0"/>
              <a:t>29-Nov-25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0953-2ABC-4218-A8F8-77087D708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1564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C1057-8F2F-4C27-8E3C-16B9441144C9}" type="datetimeFigureOut">
              <a:rPr lang="en-US" smtClean="0"/>
              <a:t>29-Nov-25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0953-2ABC-4218-A8F8-77087D708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3298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F0CC1057-8F2F-4C27-8E3C-16B9441144C9}" type="datetimeFigureOut">
              <a:rPr lang="en-US" smtClean="0"/>
              <a:t>29-Nov-25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0953-2ABC-4218-A8F8-77087D708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6875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F0CC1057-8F2F-4C27-8E3C-16B9441144C9}" type="datetimeFigureOut">
              <a:rPr lang="en-US" smtClean="0"/>
              <a:t>29-Nov-25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0953-2ABC-4218-A8F8-77087D708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8863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F0CC1057-8F2F-4C27-8E3C-16B9441144C9}" type="datetimeFigureOut">
              <a:rPr lang="en-US" smtClean="0"/>
              <a:t>29-Nov-25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55B40953-2ABC-4218-A8F8-77087D708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301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70">
            <a:extLst>
              <a:ext uri="{FF2B5EF4-FFF2-40B4-BE49-F238E27FC236}">
                <a16:creationId xmlns:a16="http://schemas.microsoft.com/office/drawing/2014/main" id="{71616407-3E4D-4469-BDAF-3837EBF9FD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769D414-9545-51C2-ED93-D905414BBD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02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0035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5">
            <a:extLst>
              <a:ext uri="{FF2B5EF4-FFF2-40B4-BE49-F238E27FC236}">
                <a16:creationId xmlns:a16="http://schemas.microsoft.com/office/drawing/2014/main" id="{4E212B76-74CB-461F-90A3-EF4F2397A8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BDD332-BD65-9563-B5C6-B53E210394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44929" y="1241266"/>
            <a:ext cx="4798142" cy="3153753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EBEBEB"/>
                </a:solidFill>
              </a:rPr>
              <a:t>HR Analytics Dashboard</a:t>
            </a:r>
            <a:br>
              <a:rPr lang="en-US" dirty="0">
                <a:solidFill>
                  <a:srgbClr val="EBEBEB"/>
                </a:solidFill>
              </a:rPr>
            </a:br>
            <a:endParaRPr lang="en-US" dirty="0">
              <a:solidFill>
                <a:srgbClr val="EBEBEB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89E0CD-FBC4-B6C1-9B61-9CE11487BB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44929" y="4591665"/>
            <a:ext cx="4798142" cy="1622322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A Data-Driven Approach to Understanding Workforce &amp; Attrition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sz="1700" b="1" dirty="0">
                <a:solidFill>
                  <a:schemeClr val="tx1"/>
                </a:solidFill>
              </a:rPr>
              <a:t>Regards,</a:t>
            </a:r>
          </a:p>
          <a:p>
            <a:r>
              <a:rPr lang="en-US" sz="1700" b="1" dirty="0">
                <a:solidFill>
                  <a:schemeClr val="tx1"/>
                </a:solidFill>
              </a:rPr>
              <a:t>Arun 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E746D0-4B37-4869-B2EF-79D5F0FFFB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Graphic 6" descr="Bar chart">
            <a:extLst>
              <a:ext uri="{FF2B5EF4-FFF2-40B4-BE49-F238E27FC236}">
                <a16:creationId xmlns:a16="http://schemas.microsoft.com/office/drawing/2014/main" id="{68FCE5B6-C7A7-CFA2-25B5-A61B23CDB8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88503" y="1113063"/>
            <a:ext cx="4628758" cy="4628758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56200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76A4D-CD9C-B72F-3F02-854CBD6A3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469D895-2D0B-21B8-DD51-C58B28A4A2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9" y="0"/>
            <a:ext cx="121797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2974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90071-A665-1B79-0B49-7BFE227D6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A20A926-F336-DA14-AA9E-71864182CC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334" y="0"/>
            <a:ext cx="1188333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7468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130166-1476-1658-87BA-4CC5534282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4925" y="841280"/>
            <a:ext cx="7381875" cy="1454246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br>
              <a:rPr lang="en-US" sz="14400" b="1" dirty="0">
                <a:solidFill>
                  <a:schemeClr val="bg1"/>
                </a:solidFill>
              </a:rPr>
            </a:br>
            <a:r>
              <a:rPr lang="en-US" sz="14400" b="1" dirty="0">
                <a:solidFill>
                  <a:schemeClr val="bg1"/>
                </a:solidFill>
              </a:rPr>
              <a:t>Problem Statement:</a:t>
            </a:r>
            <a:br>
              <a:rPr lang="en-US" sz="14400" b="1" dirty="0">
                <a:solidFill>
                  <a:schemeClr val="bg1"/>
                </a:solidFill>
              </a:rPr>
            </a:br>
            <a:br>
              <a:rPr lang="en-US" sz="14400" b="1" dirty="0">
                <a:solidFill>
                  <a:schemeClr val="bg1"/>
                </a:solidFill>
              </a:rPr>
            </a:br>
            <a:endParaRPr lang="en-US" sz="14400" b="1" dirty="0">
              <a:solidFill>
                <a:schemeClr val="bg1"/>
              </a:solidFill>
            </a:endParaRPr>
          </a:p>
          <a:p>
            <a:pPr marL="0" indent="0">
              <a:buNone/>
            </a:pPr>
            <a:br>
              <a:rPr lang="en-US" altLang="en-US" sz="2300" dirty="0">
                <a:latin typeface="Arial" panose="020B0604020202020204" pitchFamily="34" charset="0"/>
              </a:rPr>
            </a:br>
            <a:endParaRPr lang="en-US" altLang="en-US" sz="2300" dirty="0">
              <a:latin typeface="Arial" panose="020B0604020202020204" pitchFamily="34" charset="0"/>
            </a:endParaRPr>
          </a:p>
          <a:p>
            <a:pPr marL="400050" lvl="1" indent="0" defTabSz="9144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latin typeface="Arial" panose="020B0604020202020204" pitchFamily="34" charset="0"/>
              </a:rPr>
              <a:t> </a:t>
            </a:r>
            <a:endParaRPr lang="en-US" b="1" dirty="0"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b="1" dirty="0"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b="1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15CDB0C6-0355-0B0C-C8B5-8CE0BA539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8268" y="2746593"/>
            <a:ext cx="6830716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Clr>
                <a:schemeClr val="accent1"/>
              </a:buClr>
              <a:buSzPct val="80000"/>
            </a:pP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Pct val="80000"/>
            </a:pPr>
            <a:r>
              <a:rPr lang="en-US" sz="1600" dirty="0"/>
              <a:t>⚠️</a:t>
            </a:r>
            <a:r>
              <a:rPr lang="en-US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Organizations struggle to understand the root causes of attrition.</a:t>
            </a:r>
            <a:br>
              <a:rPr lang="en-US" altLang="en-US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Pct val="80000"/>
            </a:pPr>
            <a:r>
              <a:rPr lang="en-US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/>
              <a:t>🔍 </a:t>
            </a:r>
            <a:r>
              <a:rPr lang="en-US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HR teams require deeper insights into workforce trends.</a:t>
            </a:r>
            <a:br>
              <a:rPr lang="en-US" altLang="en-US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Pct val="80000"/>
            </a:pPr>
            <a:r>
              <a:rPr lang="en-US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/>
              <a:t>🕒</a:t>
            </a:r>
            <a:r>
              <a:rPr lang="en-US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Decisions often lack real-time and department-level visibility.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8818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A59EC-B57B-BFD6-6B9F-81D8EEDF3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38159-8195-BA53-6D66-23BE76FC7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006" y="668868"/>
            <a:ext cx="6088754" cy="706964"/>
          </a:xfrm>
        </p:spPr>
        <p:txBody>
          <a:bodyPr/>
          <a:lstStyle/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sz="3600" b="1" dirty="0">
                <a:latin typeface="Arial" panose="020B0604020202020204" pitchFamily="34" charset="0"/>
              </a:rPr>
            </a:br>
            <a:r>
              <a:rPr lang="en-US" sz="36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Objective of Analysis: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45A865A4-3295-2D3E-F1D9-F59C7887D3B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647825" y="2521059"/>
            <a:ext cx="5743685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00050" lvl="1" indent="0" defTabSz="9144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dirty="0"/>
              <a:t>🎯</a:t>
            </a:r>
            <a:r>
              <a:rPr lang="en-US" altLang="en-US" dirty="0">
                <a:latin typeface="Arial" panose="020B0604020202020204" pitchFamily="34" charset="0"/>
              </a:rPr>
              <a:t>Identify key drivers of employee attrition</a:t>
            </a:r>
            <a:br>
              <a:rPr lang="en-US" altLang="en-US" dirty="0">
                <a:latin typeface="Arial" panose="020B0604020202020204" pitchFamily="34" charset="0"/>
              </a:rPr>
            </a:br>
            <a:endParaRPr lang="en-US" altLang="en-US" dirty="0">
              <a:latin typeface="Arial" panose="020B0604020202020204" pitchFamily="34" charset="0"/>
            </a:endParaRPr>
          </a:p>
          <a:p>
            <a:pPr marL="400050" lvl="1" indent="0" defTabSz="9144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dirty="0"/>
              <a:t>👥</a:t>
            </a:r>
            <a:r>
              <a:rPr lang="en-US" altLang="en-US" dirty="0">
                <a:latin typeface="Arial" panose="020B0604020202020204" pitchFamily="34" charset="0"/>
              </a:rPr>
              <a:t>Analyze workforce demographics and distribution</a:t>
            </a:r>
            <a:br>
              <a:rPr lang="en-US" altLang="en-US" dirty="0">
                <a:latin typeface="Arial" panose="020B0604020202020204" pitchFamily="34" charset="0"/>
              </a:rPr>
            </a:br>
            <a:br>
              <a:rPr lang="en-US" altLang="en-US" dirty="0">
                <a:latin typeface="Arial" panose="020B0604020202020204" pitchFamily="34" charset="0"/>
              </a:rPr>
            </a:br>
            <a:r>
              <a:rPr lang="en-US" dirty="0"/>
              <a:t>📊 </a:t>
            </a:r>
            <a:r>
              <a:rPr lang="en-US" altLang="en-US" dirty="0">
                <a:latin typeface="Arial" panose="020B0604020202020204" pitchFamily="34" charset="0"/>
              </a:rPr>
              <a:t> Assess promotion delays and employee risk levels</a:t>
            </a:r>
            <a:br>
              <a:rPr lang="en-US" altLang="en-US" dirty="0">
                <a:latin typeface="Arial" panose="020B0604020202020204" pitchFamily="34" charset="0"/>
              </a:rPr>
            </a:br>
            <a:br>
              <a:rPr lang="en-US" altLang="en-US" dirty="0">
                <a:latin typeface="Arial" panose="020B0604020202020204" pitchFamily="34" charset="0"/>
              </a:rPr>
            </a:br>
            <a:r>
              <a:rPr lang="en-US" dirty="0"/>
              <a:t>💡</a:t>
            </a:r>
            <a:r>
              <a:rPr lang="en-US" altLang="en-US" dirty="0">
                <a:latin typeface="Arial" panose="020B0604020202020204" pitchFamily="34" charset="0"/>
              </a:rPr>
              <a:t>Provide actionable insights for HR decision-making</a:t>
            </a:r>
          </a:p>
        </p:txBody>
      </p:sp>
    </p:spTree>
    <p:extLst>
      <p:ext uri="{BB962C8B-B14F-4D97-AF65-F5344CB8AC3E}">
        <p14:creationId xmlns:p14="http://schemas.microsoft.com/office/powerpoint/2010/main" val="14573479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CAF07-6A44-BF7E-F928-A8025F618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D82D2-1E38-DD92-25EE-880D78FED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Tools Used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E442929-32F2-772F-E043-846F41A93A3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840754" y="2651234"/>
            <a:ext cx="4943854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 BI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Dashboard Creation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Excel / CSV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Data Source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DAX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KPI Calculations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 Query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Data Cleaning &amp; Transformation</a:t>
            </a:r>
          </a:p>
        </p:txBody>
      </p:sp>
    </p:spTree>
    <p:extLst>
      <p:ext uri="{BB962C8B-B14F-4D97-AF65-F5344CB8AC3E}">
        <p14:creationId xmlns:p14="http://schemas.microsoft.com/office/powerpoint/2010/main" val="2164554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194A3-412D-725E-21CB-078E18992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D7643-42F4-B043-4042-46F2A6236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Overview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C1E5FFD-00E1-DB3C-98E2-BEA9F14ADD3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97829" y="2427301"/>
            <a:ext cx="3921871" cy="32932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685800" lvl="1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Total Records: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1470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685800" lvl="1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Columns: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30+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HR variables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685800" lvl="1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 Fields:</a:t>
            </a:r>
            <a:b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1085850" lvl="2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Age, Gender</a:t>
            </a:r>
          </a:p>
          <a:p>
            <a:pPr marL="1085850" lvl="2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Department, Job Role</a:t>
            </a:r>
          </a:p>
          <a:p>
            <a:pPr marL="1085850" lvl="2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Education Field</a:t>
            </a:r>
          </a:p>
          <a:p>
            <a:pPr marL="1085850" lvl="2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Experience</a:t>
            </a:r>
          </a:p>
          <a:p>
            <a:pPr marL="1085850" lvl="2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Promotion Risk</a:t>
            </a:r>
          </a:p>
          <a:p>
            <a:pPr marL="1085850" lvl="2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Attrition (Yes/No)</a:t>
            </a:r>
          </a:p>
          <a:p>
            <a:pPr marL="685800" lvl="1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65626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69002-ED70-D408-77C5-82A60142E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D7F04-0905-5DA9-903E-EFFCC1419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Metrics (KPIs)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4573AEA-11A5-174D-1334-562959EC521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640729" y="2447490"/>
            <a:ext cx="3447226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dirty="0"/>
              <a:t>👥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Total Employees: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1470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dirty="0"/>
              <a:t>🎯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Active Employees: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1233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dirty="0"/>
              <a:t>📉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Attrition: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237 (16.1%)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dirty="0"/>
              <a:t>🔥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High-Risk Attrition: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39%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dirty="0"/>
              <a:t>💰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Avg Attrition Salary: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4.79K</a:t>
            </a:r>
          </a:p>
        </p:txBody>
      </p:sp>
    </p:spTree>
    <p:extLst>
      <p:ext uri="{BB962C8B-B14F-4D97-AF65-F5344CB8AC3E}">
        <p14:creationId xmlns:p14="http://schemas.microsoft.com/office/powerpoint/2010/main" val="27928572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C6F1A0-1954-9F2E-0D80-7A493E3FE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>
            <a:extLst>
              <a:ext uri="{FF2B5EF4-FFF2-40B4-BE49-F238E27FC236}">
                <a16:creationId xmlns:a16="http://schemas.microsoft.com/office/drawing/2014/main" id="{F70C2B8F-6B1B-46D5-86E6-40F36C695F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3" name="Freeform 5">
            <a:extLst>
              <a:ext uri="{FF2B5EF4-FFF2-40B4-BE49-F238E27FC236}">
                <a16:creationId xmlns:a16="http://schemas.microsoft.com/office/drawing/2014/main" id="{DB521824-592C-476A-AB0A-CA0C6D1F34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4698352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A2749EFA-8EE4-4EB8-9424-8E593B9320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50898" y="638067"/>
            <a:ext cx="6053670" cy="5581866"/>
          </a:xfrm>
          <a:custGeom>
            <a:avLst/>
            <a:gdLst>
              <a:gd name="connsiteX0" fmla="*/ 6053670 w 6053670"/>
              <a:gd name="connsiteY0" fmla="*/ 1098 h 5581866"/>
              <a:gd name="connsiteX1" fmla="*/ 6053670 w 6053670"/>
              <a:gd name="connsiteY1" fmla="*/ 514028 h 5581866"/>
              <a:gd name="connsiteX2" fmla="*/ 6053670 w 6053670"/>
              <a:gd name="connsiteY2" fmla="*/ 1254558 h 5581866"/>
              <a:gd name="connsiteX3" fmla="*/ 6053670 w 6053670"/>
              <a:gd name="connsiteY3" fmla="*/ 5581866 h 5581866"/>
              <a:gd name="connsiteX4" fmla="*/ 0 w 6053670"/>
              <a:gd name="connsiteY4" fmla="*/ 5581866 h 5581866"/>
              <a:gd name="connsiteX5" fmla="*/ 0 w 6053670"/>
              <a:gd name="connsiteY5" fmla="*/ 1249853 h 5581866"/>
              <a:gd name="connsiteX6" fmla="*/ 0 w 6053670"/>
              <a:gd name="connsiteY6" fmla="*/ 514028 h 5581866"/>
              <a:gd name="connsiteX7" fmla="*/ 0 w 6053670"/>
              <a:gd name="connsiteY7" fmla="*/ 0 h 5581866"/>
              <a:gd name="connsiteX8" fmla="*/ 35717 w 6053670"/>
              <a:gd name="connsiteY8" fmla="*/ 5488 h 5581866"/>
              <a:gd name="connsiteX9" fmla="*/ 140445 w 6053670"/>
              <a:gd name="connsiteY9" fmla="*/ 21641 h 5581866"/>
              <a:gd name="connsiteX10" fmla="*/ 216722 w 6053670"/>
              <a:gd name="connsiteY10" fmla="*/ 32932 h 5581866"/>
              <a:gd name="connsiteX11" fmla="*/ 307527 w 6053670"/>
              <a:gd name="connsiteY11" fmla="*/ 44850 h 5581866"/>
              <a:gd name="connsiteX12" fmla="*/ 415282 w 6053670"/>
              <a:gd name="connsiteY12" fmla="*/ 59121 h 5581866"/>
              <a:gd name="connsiteX13" fmla="*/ 534539 w 6053670"/>
              <a:gd name="connsiteY13" fmla="*/ 74175 h 5581866"/>
              <a:gd name="connsiteX14" fmla="*/ 668931 w 6053670"/>
              <a:gd name="connsiteY14" fmla="*/ 90014 h 5581866"/>
              <a:gd name="connsiteX15" fmla="*/ 815430 w 6053670"/>
              <a:gd name="connsiteY15" fmla="*/ 106794 h 5581866"/>
              <a:gd name="connsiteX16" fmla="*/ 974641 w 6053670"/>
              <a:gd name="connsiteY16" fmla="*/ 123574 h 5581866"/>
              <a:gd name="connsiteX17" fmla="*/ 1144144 w 6053670"/>
              <a:gd name="connsiteY17" fmla="*/ 140667 h 5581866"/>
              <a:gd name="connsiteX18" fmla="*/ 1326965 w 6053670"/>
              <a:gd name="connsiteY18" fmla="*/ 156506 h 5581866"/>
              <a:gd name="connsiteX19" fmla="*/ 1518261 w 6053670"/>
              <a:gd name="connsiteY19" fmla="*/ 171717 h 5581866"/>
              <a:gd name="connsiteX20" fmla="*/ 1720453 w 6053670"/>
              <a:gd name="connsiteY20" fmla="*/ 185518 h 5581866"/>
              <a:gd name="connsiteX21" fmla="*/ 1931121 w 6053670"/>
              <a:gd name="connsiteY21" fmla="*/ 198690 h 5581866"/>
              <a:gd name="connsiteX22" fmla="*/ 2150869 w 6053670"/>
              <a:gd name="connsiteY22" fmla="*/ 211079 h 5581866"/>
              <a:gd name="connsiteX23" fmla="*/ 2263467 w 6053670"/>
              <a:gd name="connsiteY23" fmla="*/ 215470 h 5581866"/>
              <a:gd name="connsiteX24" fmla="*/ 2378487 w 6053670"/>
              <a:gd name="connsiteY24" fmla="*/ 220332 h 5581866"/>
              <a:gd name="connsiteX25" fmla="*/ 2495323 w 6053670"/>
              <a:gd name="connsiteY25" fmla="*/ 224879 h 5581866"/>
              <a:gd name="connsiteX26" fmla="*/ 2612764 w 6053670"/>
              <a:gd name="connsiteY26" fmla="*/ 227859 h 5581866"/>
              <a:gd name="connsiteX27" fmla="*/ 2732627 w 6053670"/>
              <a:gd name="connsiteY27" fmla="*/ 230525 h 5581866"/>
              <a:gd name="connsiteX28" fmla="*/ 2853700 w 6053670"/>
              <a:gd name="connsiteY28" fmla="*/ 233348 h 5581866"/>
              <a:gd name="connsiteX29" fmla="*/ 2977195 w 6053670"/>
              <a:gd name="connsiteY29" fmla="*/ 235229 h 5581866"/>
              <a:gd name="connsiteX30" fmla="*/ 3101900 w 6053670"/>
              <a:gd name="connsiteY30" fmla="*/ 235229 h 5581866"/>
              <a:gd name="connsiteX31" fmla="*/ 3227817 w 6053670"/>
              <a:gd name="connsiteY31" fmla="*/ 236170 h 5581866"/>
              <a:gd name="connsiteX32" fmla="*/ 3354944 w 6053670"/>
              <a:gd name="connsiteY32" fmla="*/ 235229 h 5581866"/>
              <a:gd name="connsiteX33" fmla="*/ 3483887 w 6053670"/>
              <a:gd name="connsiteY33" fmla="*/ 233348 h 5581866"/>
              <a:gd name="connsiteX34" fmla="*/ 3612830 w 6053670"/>
              <a:gd name="connsiteY34" fmla="*/ 231623 h 5581866"/>
              <a:gd name="connsiteX35" fmla="*/ 3743589 w 6053670"/>
              <a:gd name="connsiteY35" fmla="*/ 227859 h 5581866"/>
              <a:gd name="connsiteX36" fmla="*/ 3875559 w 6053670"/>
              <a:gd name="connsiteY36" fmla="*/ 223938 h 5581866"/>
              <a:gd name="connsiteX37" fmla="*/ 4007529 w 6053670"/>
              <a:gd name="connsiteY37" fmla="*/ 219391 h 5581866"/>
              <a:gd name="connsiteX38" fmla="*/ 4140710 w 6053670"/>
              <a:gd name="connsiteY38" fmla="*/ 212961 h 5581866"/>
              <a:gd name="connsiteX39" fmla="*/ 4275102 w 6053670"/>
              <a:gd name="connsiteY39" fmla="*/ 205277 h 5581866"/>
              <a:gd name="connsiteX40" fmla="*/ 4410098 w 6053670"/>
              <a:gd name="connsiteY40" fmla="*/ 197907 h 5581866"/>
              <a:gd name="connsiteX41" fmla="*/ 4545096 w 6053670"/>
              <a:gd name="connsiteY41" fmla="*/ 188498 h 5581866"/>
              <a:gd name="connsiteX42" fmla="*/ 4681909 w 6053670"/>
              <a:gd name="connsiteY42" fmla="*/ 177207 h 5581866"/>
              <a:gd name="connsiteX43" fmla="*/ 4816905 w 6053670"/>
              <a:gd name="connsiteY43" fmla="*/ 165916 h 5581866"/>
              <a:gd name="connsiteX44" fmla="*/ 4954323 w 6053670"/>
              <a:gd name="connsiteY44" fmla="*/ 152899 h 5581866"/>
              <a:gd name="connsiteX45" fmla="*/ 5092347 w 6053670"/>
              <a:gd name="connsiteY45" fmla="*/ 138629 h 5581866"/>
              <a:gd name="connsiteX46" fmla="*/ 5228555 w 6053670"/>
              <a:gd name="connsiteY46" fmla="*/ 123574 h 5581866"/>
              <a:gd name="connsiteX47" fmla="*/ 5366578 w 6053670"/>
              <a:gd name="connsiteY47" fmla="*/ 106010 h 5581866"/>
              <a:gd name="connsiteX48" fmla="*/ 5503997 w 6053670"/>
              <a:gd name="connsiteY48" fmla="*/ 87192 h 5581866"/>
              <a:gd name="connsiteX49" fmla="*/ 5642020 w 6053670"/>
              <a:gd name="connsiteY49" fmla="*/ 68530 h 5581866"/>
              <a:gd name="connsiteX50" fmla="*/ 5779438 w 6053670"/>
              <a:gd name="connsiteY50" fmla="*/ 46733 h 5581866"/>
              <a:gd name="connsiteX51" fmla="*/ 5916251 w 6053670"/>
              <a:gd name="connsiteY51" fmla="*/ 24464 h 5581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5581866">
                <a:moveTo>
                  <a:pt x="6053670" y="1098"/>
                </a:moveTo>
                <a:lnTo>
                  <a:pt x="6053670" y="514028"/>
                </a:lnTo>
                <a:lnTo>
                  <a:pt x="6053670" y="1254558"/>
                </a:lnTo>
                <a:lnTo>
                  <a:pt x="6053670" y="5581866"/>
                </a:lnTo>
                <a:lnTo>
                  <a:pt x="0" y="5581866"/>
                </a:lnTo>
                <a:lnTo>
                  <a:pt x="0" y="1249853"/>
                </a:lnTo>
                <a:lnTo>
                  <a:pt x="0" y="514028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0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89" y="227859"/>
                </a:lnTo>
                <a:lnTo>
                  <a:pt x="3875559" y="223938"/>
                </a:lnTo>
                <a:lnTo>
                  <a:pt x="4007529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Freeform 5">
            <a:extLst>
              <a:ext uri="{FF2B5EF4-FFF2-40B4-BE49-F238E27FC236}">
                <a16:creationId xmlns:a16="http://schemas.microsoft.com/office/drawing/2014/main" id="{B5C860C9-D4F9-4350-80DA-0D1CD36C77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29DC6E-3986-A630-9F4F-C15AFA9E2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089" y="796413"/>
            <a:ext cx="5132438" cy="162232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EBEBEB"/>
                </a:solidFill>
              </a:rPr>
              <a:t>Attrition Analysis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80D205-6E35-A821-B804-F54DA04933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836" y="995199"/>
            <a:ext cx="4828707" cy="4885182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538A90C8-AE0E-4EBA-9AF8-EEDB20602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6" name="Rectangle 1">
            <a:extLst>
              <a:ext uri="{FF2B5EF4-FFF2-40B4-BE49-F238E27FC236}">
                <a16:creationId xmlns:a16="http://schemas.microsoft.com/office/drawing/2014/main" id="{AC3258EF-CBEB-8C9C-C7EF-422ED336137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39098" y="2418735"/>
            <a:ext cx="5132439" cy="381174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R="0" lvl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R&amp;D has the highest attrition (</a:t>
            </a:r>
            <a:r>
              <a:rPr kumimoji="0" lang="en-US" altLang="en-US" sz="1600" b="1" i="0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56.12%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)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Sales follows with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38.82%</a:t>
            </a:r>
            <a:b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HR shows minimal attrition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Younger workforce (25–34) leaves the most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Education field "Life Sciences" has highest attrition</a:t>
            </a:r>
          </a:p>
        </p:txBody>
      </p:sp>
    </p:spTree>
    <p:extLst>
      <p:ext uri="{BB962C8B-B14F-4D97-AF65-F5344CB8AC3E}">
        <p14:creationId xmlns:p14="http://schemas.microsoft.com/office/powerpoint/2010/main" val="38379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FB625B-E1C5-6615-B0C1-5B95FE3E5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38ABDB68-E3D5-448E-97D3-06FFEF6801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Freeform 5">
            <a:extLst>
              <a:ext uri="{FF2B5EF4-FFF2-40B4-BE49-F238E27FC236}">
                <a16:creationId xmlns:a16="http://schemas.microsoft.com/office/drawing/2014/main" id="{B8DD7FEB-D9F3-4F5B-982C-36B0664D02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5376762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2" name="Freeform 5">
            <a:extLst>
              <a:ext uri="{FF2B5EF4-FFF2-40B4-BE49-F238E27FC236}">
                <a16:creationId xmlns:a16="http://schemas.microsoft.com/office/drawing/2014/main" id="{96BA11E4-0636-4FA9-A836-2A4FB1764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38C8A2-25F1-3EAA-A918-11A2E79D3E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098" y="629265"/>
            <a:ext cx="6072776" cy="1622322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EBEBEB"/>
                </a:solidFill>
              </a:rPr>
              <a:t>Workforce Demographics</a:t>
            </a: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5681882E-BDD0-4311-AF62-E80196285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6290102" y="977273"/>
            <a:ext cx="6053670" cy="4903455"/>
          </a:xfrm>
          <a:custGeom>
            <a:avLst/>
            <a:gdLst>
              <a:gd name="connsiteX0" fmla="*/ 6053670 w 6053670"/>
              <a:gd name="connsiteY0" fmla="*/ 1098 h 4903455"/>
              <a:gd name="connsiteX1" fmla="*/ 6053670 w 6053670"/>
              <a:gd name="connsiteY1" fmla="*/ 424590 h 4903455"/>
              <a:gd name="connsiteX2" fmla="*/ 6053670 w 6053670"/>
              <a:gd name="connsiteY2" fmla="*/ 1254558 h 4903455"/>
              <a:gd name="connsiteX3" fmla="*/ 6053670 w 6053670"/>
              <a:gd name="connsiteY3" fmla="*/ 4903455 h 4903455"/>
              <a:gd name="connsiteX4" fmla="*/ 0 w 6053670"/>
              <a:gd name="connsiteY4" fmla="*/ 4903455 h 4903455"/>
              <a:gd name="connsiteX5" fmla="*/ 0 w 6053670"/>
              <a:gd name="connsiteY5" fmla="*/ 1249853 h 4903455"/>
              <a:gd name="connsiteX6" fmla="*/ 0 w 6053670"/>
              <a:gd name="connsiteY6" fmla="*/ 424590 h 4903455"/>
              <a:gd name="connsiteX7" fmla="*/ 0 w 6053670"/>
              <a:gd name="connsiteY7" fmla="*/ 0 h 4903455"/>
              <a:gd name="connsiteX8" fmla="*/ 35717 w 6053670"/>
              <a:gd name="connsiteY8" fmla="*/ 5488 h 4903455"/>
              <a:gd name="connsiteX9" fmla="*/ 140445 w 6053670"/>
              <a:gd name="connsiteY9" fmla="*/ 21641 h 4903455"/>
              <a:gd name="connsiteX10" fmla="*/ 216722 w 6053670"/>
              <a:gd name="connsiteY10" fmla="*/ 32932 h 4903455"/>
              <a:gd name="connsiteX11" fmla="*/ 307527 w 6053670"/>
              <a:gd name="connsiteY11" fmla="*/ 44850 h 4903455"/>
              <a:gd name="connsiteX12" fmla="*/ 415282 w 6053670"/>
              <a:gd name="connsiteY12" fmla="*/ 59121 h 4903455"/>
              <a:gd name="connsiteX13" fmla="*/ 534539 w 6053670"/>
              <a:gd name="connsiteY13" fmla="*/ 74175 h 4903455"/>
              <a:gd name="connsiteX14" fmla="*/ 668931 w 6053670"/>
              <a:gd name="connsiteY14" fmla="*/ 90014 h 4903455"/>
              <a:gd name="connsiteX15" fmla="*/ 815430 w 6053670"/>
              <a:gd name="connsiteY15" fmla="*/ 106794 h 4903455"/>
              <a:gd name="connsiteX16" fmla="*/ 974641 w 6053670"/>
              <a:gd name="connsiteY16" fmla="*/ 123574 h 4903455"/>
              <a:gd name="connsiteX17" fmla="*/ 1144144 w 6053670"/>
              <a:gd name="connsiteY17" fmla="*/ 140667 h 4903455"/>
              <a:gd name="connsiteX18" fmla="*/ 1326965 w 6053670"/>
              <a:gd name="connsiteY18" fmla="*/ 156506 h 4903455"/>
              <a:gd name="connsiteX19" fmla="*/ 1518261 w 6053670"/>
              <a:gd name="connsiteY19" fmla="*/ 171717 h 4903455"/>
              <a:gd name="connsiteX20" fmla="*/ 1720453 w 6053670"/>
              <a:gd name="connsiteY20" fmla="*/ 185518 h 4903455"/>
              <a:gd name="connsiteX21" fmla="*/ 1931121 w 6053670"/>
              <a:gd name="connsiteY21" fmla="*/ 198690 h 4903455"/>
              <a:gd name="connsiteX22" fmla="*/ 2150869 w 6053670"/>
              <a:gd name="connsiteY22" fmla="*/ 211079 h 4903455"/>
              <a:gd name="connsiteX23" fmla="*/ 2263467 w 6053670"/>
              <a:gd name="connsiteY23" fmla="*/ 215470 h 4903455"/>
              <a:gd name="connsiteX24" fmla="*/ 2378487 w 6053670"/>
              <a:gd name="connsiteY24" fmla="*/ 220332 h 4903455"/>
              <a:gd name="connsiteX25" fmla="*/ 2495323 w 6053670"/>
              <a:gd name="connsiteY25" fmla="*/ 224879 h 4903455"/>
              <a:gd name="connsiteX26" fmla="*/ 2612764 w 6053670"/>
              <a:gd name="connsiteY26" fmla="*/ 227859 h 4903455"/>
              <a:gd name="connsiteX27" fmla="*/ 2732627 w 6053670"/>
              <a:gd name="connsiteY27" fmla="*/ 230525 h 4903455"/>
              <a:gd name="connsiteX28" fmla="*/ 2853700 w 6053670"/>
              <a:gd name="connsiteY28" fmla="*/ 233348 h 4903455"/>
              <a:gd name="connsiteX29" fmla="*/ 2977195 w 6053670"/>
              <a:gd name="connsiteY29" fmla="*/ 235229 h 4903455"/>
              <a:gd name="connsiteX30" fmla="*/ 3101900 w 6053670"/>
              <a:gd name="connsiteY30" fmla="*/ 235229 h 4903455"/>
              <a:gd name="connsiteX31" fmla="*/ 3227817 w 6053670"/>
              <a:gd name="connsiteY31" fmla="*/ 236170 h 4903455"/>
              <a:gd name="connsiteX32" fmla="*/ 3354944 w 6053670"/>
              <a:gd name="connsiteY32" fmla="*/ 235229 h 4903455"/>
              <a:gd name="connsiteX33" fmla="*/ 3483887 w 6053670"/>
              <a:gd name="connsiteY33" fmla="*/ 233348 h 4903455"/>
              <a:gd name="connsiteX34" fmla="*/ 3612830 w 6053670"/>
              <a:gd name="connsiteY34" fmla="*/ 231623 h 4903455"/>
              <a:gd name="connsiteX35" fmla="*/ 3743589 w 6053670"/>
              <a:gd name="connsiteY35" fmla="*/ 227859 h 4903455"/>
              <a:gd name="connsiteX36" fmla="*/ 3875559 w 6053670"/>
              <a:gd name="connsiteY36" fmla="*/ 223938 h 4903455"/>
              <a:gd name="connsiteX37" fmla="*/ 4007529 w 6053670"/>
              <a:gd name="connsiteY37" fmla="*/ 219391 h 4903455"/>
              <a:gd name="connsiteX38" fmla="*/ 4140710 w 6053670"/>
              <a:gd name="connsiteY38" fmla="*/ 212961 h 4903455"/>
              <a:gd name="connsiteX39" fmla="*/ 4275102 w 6053670"/>
              <a:gd name="connsiteY39" fmla="*/ 205277 h 4903455"/>
              <a:gd name="connsiteX40" fmla="*/ 4410098 w 6053670"/>
              <a:gd name="connsiteY40" fmla="*/ 197907 h 4903455"/>
              <a:gd name="connsiteX41" fmla="*/ 4545096 w 6053670"/>
              <a:gd name="connsiteY41" fmla="*/ 188498 h 4903455"/>
              <a:gd name="connsiteX42" fmla="*/ 4681909 w 6053670"/>
              <a:gd name="connsiteY42" fmla="*/ 177207 h 4903455"/>
              <a:gd name="connsiteX43" fmla="*/ 4816905 w 6053670"/>
              <a:gd name="connsiteY43" fmla="*/ 165916 h 4903455"/>
              <a:gd name="connsiteX44" fmla="*/ 4954323 w 6053670"/>
              <a:gd name="connsiteY44" fmla="*/ 152899 h 4903455"/>
              <a:gd name="connsiteX45" fmla="*/ 5092347 w 6053670"/>
              <a:gd name="connsiteY45" fmla="*/ 138629 h 4903455"/>
              <a:gd name="connsiteX46" fmla="*/ 5228555 w 6053670"/>
              <a:gd name="connsiteY46" fmla="*/ 123574 h 4903455"/>
              <a:gd name="connsiteX47" fmla="*/ 5366578 w 6053670"/>
              <a:gd name="connsiteY47" fmla="*/ 106010 h 4903455"/>
              <a:gd name="connsiteX48" fmla="*/ 5503997 w 6053670"/>
              <a:gd name="connsiteY48" fmla="*/ 87192 h 4903455"/>
              <a:gd name="connsiteX49" fmla="*/ 5642020 w 6053670"/>
              <a:gd name="connsiteY49" fmla="*/ 68530 h 4903455"/>
              <a:gd name="connsiteX50" fmla="*/ 5779438 w 6053670"/>
              <a:gd name="connsiteY50" fmla="*/ 46733 h 4903455"/>
              <a:gd name="connsiteX51" fmla="*/ 5916251 w 6053670"/>
              <a:gd name="connsiteY51" fmla="*/ 24464 h 4903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4903455">
                <a:moveTo>
                  <a:pt x="6053670" y="1098"/>
                </a:moveTo>
                <a:lnTo>
                  <a:pt x="6053670" y="424590"/>
                </a:lnTo>
                <a:lnTo>
                  <a:pt x="6053670" y="1254558"/>
                </a:lnTo>
                <a:lnTo>
                  <a:pt x="6053670" y="4903455"/>
                </a:lnTo>
                <a:lnTo>
                  <a:pt x="0" y="4903455"/>
                </a:lnTo>
                <a:lnTo>
                  <a:pt x="0" y="1249853"/>
                </a:lnTo>
                <a:lnTo>
                  <a:pt x="0" y="424590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0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89" y="227859"/>
                </a:lnTo>
                <a:lnTo>
                  <a:pt x="3875559" y="223938"/>
                </a:lnTo>
                <a:lnTo>
                  <a:pt x="4007529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46114C-4073-0ED4-2FD5-066D6B082B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224" r="13128" b="-1"/>
          <a:stretch>
            <a:fillRect/>
          </a:stretch>
        </p:blipFill>
        <p:spPr>
          <a:xfrm>
            <a:off x="7418226" y="1743351"/>
            <a:ext cx="4125317" cy="3388878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EADD3260-4BDA-459B-A162-5E1B897E38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283DA7DD-CA37-4ED7-8710-48E56B063B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11000"/>
                </a:schemeClr>
              </a:gs>
              <a:gs pos="75000">
                <a:schemeClr val="accent5">
                  <a:alpha val="0"/>
                </a:schemeClr>
              </a:gs>
              <a:gs pos="36000">
                <a:schemeClr val="accent5"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B92F2E3C-66CD-4DEB-BA14-2A5912B65A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8000"/>
                </a:schemeClr>
              </a:gs>
              <a:gs pos="72000">
                <a:schemeClr val="accent5">
                  <a:alpha val="0"/>
                </a:schemeClr>
              </a:gs>
              <a:gs pos="36000">
                <a:schemeClr val="accent5"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66FC383-42B4-7303-4EA1-9E0DC74F734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39098" y="2418735"/>
            <a:ext cx="6072776" cy="381174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R="0" lvl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Majority workforce in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25–34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&amp;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35–44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age groups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Gender distribution is male-dominated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Workforce is well spread across departments</a:t>
            </a:r>
          </a:p>
        </p:txBody>
      </p:sp>
    </p:spTree>
    <p:extLst>
      <p:ext uri="{BB962C8B-B14F-4D97-AF65-F5344CB8AC3E}">
        <p14:creationId xmlns:p14="http://schemas.microsoft.com/office/powerpoint/2010/main" val="35164805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51F934-B678-9D95-5B73-6A6F9AC1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72C6E0B7-C37D-4D54-8F3E-8D9F9097F6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B7B653ED-BC47-4D34-B612-473D6AFAD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6290102" y="977273"/>
            <a:ext cx="6053670" cy="4903455"/>
          </a:xfrm>
          <a:custGeom>
            <a:avLst/>
            <a:gdLst>
              <a:gd name="connsiteX0" fmla="*/ 6053670 w 6053670"/>
              <a:gd name="connsiteY0" fmla="*/ 1098 h 4903455"/>
              <a:gd name="connsiteX1" fmla="*/ 6053670 w 6053670"/>
              <a:gd name="connsiteY1" fmla="*/ 424590 h 4903455"/>
              <a:gd name="connsiteX2" fmla="*/ 6053670 w 6053670"/>
              <a:gd name="connsiteY2" fmla="*/ 1254558 h 4903455"/>
              <a:gd name="connsiteX3" fmla="*/ 6053670 w 6053670"/>
              <a:gd name="connsiteY3" fmla="*/ 4903455 h 4903455"/>
              <a:gd name="connsiteX4" fmla="*/ 0 w 6053670"/>
              <a:gd name="connsiteY4" fmla="*/ 4903455 h 4903455"/>
              <a:gd name="connsiteX5" fmla="*/ 0 w 6053670"/>
              <a:gd name="connsiteY5" fmla="*/ 1249853 h 4903455"/>
              <a:gd name="connsiteX6" fmla="*/ 0 w 6053670"/>
              <a:gd name="connsiteY6" fmla="*/ 424590 h 4903455"/>
              <a:gd name="connsiteX7" fmla="*/ 0 w 6053670"/>
              <a:gd name="connsiteY7" fmla="*/ 0 h 4903455"/>
              <a:gd name="connsiteX8" fmla="*/ 35717 w 6053670"/>
              <a:gd name="connsiteY8" fmla="*/ 5488 h 4903455"/>
              <a:gd name="connsiteX9" fmla="*/ 140445 w 6053670"/>
              <a:gd name="connsiteY9" fmla="*/ 21641 h 4903455"/>
              <a:gd name="connsiteX10" fmla="*/ 216722 w 6053670"/>
              <a:gd name="connsiteY10" fmla="*/ 32932 h 4903455"/>
              <a:gd name="connsiteX11" fmla="*/ 307527 w 6053670"/>
              <a:gd name="connsiteY11" fmla="*/ 44850 h 4903455"/>
              <a:gd name="connsiteX12" fmla="*/ 415282 w 6053670"/>
              <a:gd name="connsiteY12" fmla="*/ 59121 h 4903455"/>
              <a:gd name="connsiteX13" fmla="*/ 534539 w 6053670"/>
              <a:gd name="connsiteY13" fmla="*/ 74175 h 4903455"/>
              <a:gd name="connsiteX14" fmla="*/ 668931 w 6053670"/>
              <a:gd name="connsiteY14" fmla="*/ 90014 h 4903455"/>
              <a:gd name="connsiteX15" fmla="*/ 815430 w 6053670"/>
              <a:gd name="connsiteY15" fmla="*/ 106794 h 4903455"/>
              <a:gd name="connsiteX16" fmla="*/ 974641 w 6053670"/>
              <a:gd name="connsiteY16" fmla="*/ 123574 h 4903455"/>
              <a:gd name="connsiteX17" fmla="*/ 1144144 w 6053670"/>
              <a:gd name="connsiteY17" fmla="*/ 140667 h 4903455"/>
              <a:gd name="connsiteX18" fmla="*/ 1326965 w 6053670"/>
              <a:gd name="connsiteY18" fmla="*/ 156506 h 4903455"/>
              <a:gd name="connsiteX19" fmla="*/ 1518261 w 6053670"/>
              <a:gd name="connsiteY19" fmla="*/ 171717 h 4903455"/>
              <a:gd name="connsiteX20" fmla="*/ 1720453 w 6053670"/>
              <a:gd name="connsiteY20" fmla="*/ 185518 h 4903455"/>
              <a:gd name="connsiteX21" fmla="*/ 1931121 w 6053670"/>
              <a:gd name="connsiteY21" fmla="*/ 198690 h 4903455"/>
              <a:gd name="connsiteX22" fmla="*/ 2150869 w 6053670"/>
              <a:gd name="connsiteY22" fmla="*/ 211079 h 4903455"/>
              <a:gd name="connsiteX23" fmla="*/ 2263467 w 6053670"/>
              <a:gd name="connsiteY23" fmla="*/ 215470 h 4903455"/>
              <a:gd name="connsiteX24" fmla="*/ 2378487 w 6053670"/>
              <a:gd name="connsiteY24" fmla="*/ 220332 h 4903455"/>
              <a:gd name="connsiteX25" fmla="*/ 2495323 w 6053670"/>
              <a:gd name="connsiteY25" fmla="*/ 224879 h 4903455"/>
              <a:gd name="connsiteX26" fmla="*/ 2612764 w 6053670"/>
              <a:gd name="connsiteY26" fmla="*/ 227859 h 4903455"/>
              <a:gd name="connsiteX27" fmla="*/ 2732627 w 6053670"/>
              <a:gd name="connsiteY27" fmla="*/ 230525 h 4903455"/>
              <a:gd name="connsiteX28" fmla="*/ 2853700 w 6053670"/>
              <a:gd name="connsiteY28" fmla="*/ 233348 h 4903455"/>
              <a:gd name="connsiteX29" fmla="*/ 2977195 w 6053670"/>
              <a:gd name="connsiteY29" fmla="*/ 235229 h 4903455"/>
              <a:gd name="connsiteX30" fmla="*/ 3101900 w 6053670"/>
              <a:gd name="connsiteY30" fmla="*/ 235229 h 4903455"/>
              <a:gd name="connsiteX31" fmla="*/ 3227817 w 6053670"/>
              <a:gd name="connsiteY31" fmla="*/ 236170 h 4903455"/>
              <a:gd name="connsiteX32" fmla="*/ 3354944 w 6053670"/>
              <a:gd name="connsiteY32" fmla="*/ 235229 h 4903455"/>
              <a:gd name="connsiteX33" fmla="*/ 3483887 w 6053670"/>
              <a:gd name="connsiteY33" fmla="*/ 233348 h 4903455"/>
              <a:gd name="connsiteX34" fmla="*/ 3612830 w 6053670"/>
              <a:gd name="connsiteY34" fmla="*/ 231623 h 4903455"/>
              <a:gd name="connsiteX35" fmla="*/ 3743589 w 6053670"/>
              <a:gd name="connsiteY35" fmla="*/ 227859 h 4903455"/>
              <a:gd name="connsiteX36" fmla="*/ 3875559 w 6053670"/>
              <a:gd name="connsiteY36" fmla="*/ 223938 h 4903455"/>
              <a:gd name="connsiteX37" fmla="*/ 4007529 w 6053670"/>
              <a:gd name="connsiteY37" fmla="*/ 219391 h 4903455"/>
              <a:gd name="connsiteX38" fmla="*/ 4140710 w 6053670"/>
              <a:gd name="connsiteY38" fmla="*/ 212961 h 4903455"/>
              <a:gd name="connsiteX39" fmla="*/ 4275102 w 6053670"/>
              <a:gd name="connsiteY39" fmla="*/ 205277 h 4903455"/>
              <a:gd name="connsiteX40" fmla="*/ 4410098 w 6053670"/>
              <a:gd name="connsiteY40" fmla="*/ 197907 h 4903455"/>
              <a:gd name="connsiteX41" fmla="*/ 4545096 w 6053670"/>
              <a:gd name="connsiteY41" fmla="*/ 188498 h 4903455"/>
              <a:gd name="connsiteX42" fmla="*/ 4681909 w 6053670"/>
              <a:gd name="connsiteY42" fmla="*/ 177207 h 4903455"/>
              <a:gd name="connsiteX43" fmla="*/ 4816905 w 6053670"/>
              <a:gd name="connsiteY43" fmla="*/ 165916 h 4903455"/>
              <a:gd name="connsiteX44" fmla="*/ 4954323 w 6053670"/>
              <a:gd name="connsiteY44" fmla="*/ 152899 h 4903455"/>
              <a:gd name="connsiteX45" fmla="*/ 5092347 w 6053670"/>
              <a:gd name="connsiteY45" fmla="*/ 138629 h 4903455"/>
              <a:gd name="connsiteX46" fmla="*/ 5228555 w 6053670"/>
              <a:gd name="connsiteY46" fmla="*/ 123574 h 4903455"/>
              <a:gd name="connsiteX47" fmla="*/ 5366578 w 6053670"/>
              <a:gd name="connsiteY47" fmla="*/ 106010 h 4903455"/>
              <a:gd name="connsiteX48" fmla="*/ 5503997 w 6053670"/>
              <a:gd name="connsiteY48" fmla="*/ 87192 h 4903455"/>
              <a:gd name="connsiteX49" fmla="*/ 5642020 w 6053670"/>
              <a:gd name="connsiteY49" fmla="*/ 68530 h 4903455"/>
              <a:gd name="connsiteX50" fmla="*/ 5779438 w 6053670"/>
              <a:gd name="connsiteY50" fmla="*/ 46733 h 4903455"/>
              <a:gd name="connsiteX51" fmla="*/ 5916251 w 6053670"/>
              <a:gd name="connsiteY51" fmla="*/ 24464 h 4903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4903455">
                <a:moveTo>
                  <a:pt x="6053670" y="1098"/>
                </a:moveTo>
                <a:lnTo>
                  <a:pt x="6053670" y="424590"/>
                </a:lnTo>
                <a:lnTo>
                  <a:pt x="6053670" y="1254558"/>
                </a:lnTo>
                <a:lnTo>
                  <a:pt x="6053670" y="4903455"/>
                </a:lnTo>
                <a:lnTo>
                  <a:pt x="0" y="4903455"/>
                </a:lnTo>
                <a:lnTo>
                  <a:pt x="0" y="1249853"/>
                </a:lnTo>
                <a:lnTo>
                  <a:pt x="0" y="424590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0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89" y="227859"/>
                </a:lnTo>
                <a:lnTo>
                  <a:pt x="3875559" y="223938"/>
                </a:lnTo>
                <a:lnTo>
                  <a:pt x="4007529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2" name="Freeform 5">
            <a:extLst>
              <a:ext uri="{FF2B5EF4-FFF2-40B4-BE49-F238E27FC236}">
                <a16:creationId xmlns:a16="http://schemas.microsoft.com/office/drawing/2014/main" id="{B93D812D-BB26-4FDD-A218-F6F71E737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Freeform 5">
            <a:extLst>
              <a:ext uri="{FF2B5EF4-FFF2-40B4-BE49-F238E27FC236}">
                <a16:creationId xmlns:a16="http://schemas.microsoft.com/office/drawing/2014/main" id="{EEA99C6C-BC37-4408-9F74-3DDB1060B7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5376762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F52CA0-4885-40E0-A6A9-4F39D4A70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098" y="629265"/>
            <a:ext cx="6072776" cy="1622322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E"/>
                </a:solidFill>
              </a:rPr>
              <a:t>Education &amp; Job Role Insights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24C0032-B592-45AB-AD23-5A4BD369B6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BF1F84-E7C7-42A7-911D-8E48AF671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11000"/>
                </a:schemeClr>
              </a:gs>
              <a:gs pos="75000">
                <a:schemeClr val="accent5">
                  <a:alpha val="0"/>
                </a:schemeClr>
              </a:gs>
              <a:gs pos="36000">
                <a:schemeClr val="accent5"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C3CFCFE-6522-4333-8CB1-16DB80E7E9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8000"/>
                </a:schemeClr>
              </a:gs>
              <a:gs pos="72000">
                <a:schemeClr val="accent5">
                  <a:alpha val="0"/>
                </a:schemeClr>
              </a:gs>
              <a:gs pos="36000">
                <a:schemeClr val="accent5"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DDF6A02-3068-B7F6-4704-1D523638360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39098" y="2418735"/>
            <a:ext cx="6072776" cy="381174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R="0" lvl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FFFFFE"/>
                </a:solidFill>
                <a:effectLst/>
                <a:latin typeface="Arial" panose="020B0604020202020204" pitchFamily="34" charset="0"/>
              </a:rPr>
              <a:t>Life Sciences → highest attrition (89)</a:t>
            </a:r>
            <a:b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FFFFFE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b="1" i="0" u="none" strike="noStrike" cap="none" normalizeH="0" baseline="0" dirty="0">
              <a:ln>
                <a:noFill/>
              </a:ln>
              <a:solidFill>
                <a:srgbClr val="FFFFFE"/>
              </a:solidFill>
              <a:effectLst/>
              <a:latin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E"/>
                </a:solidFill>
                <a:effectLst/>
                <a:latin typeface="Arial" panose="020B0604020202020204" pitchFamily="34" charset="0"/>
              </a:rPr>
              <a:t>Medical → 63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E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FFFFFE"/>
              </a:solidFill>
              <a:effectLst/>
              <a:latin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FFFFFE"/>
                </a:solidFill>
                <a:effectLst/>
                <a:latin typeface="Arial" panose="020B0604020202020204" pitchFamily="34" charset="0"/>
              </a:rPr>
              <a:t>Sales roles show lower satisfaction</a:t>
            </a:r>
            <a:b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FFFFFE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b="1" i="0" u="none" strike="noStrike" cap="none" normalizeH="0" baseline="0" dirty="0">
              <a:ln>
                <a:noFill/>
              </a:ln>
              <a:solidFill>
                <a:srgbClr val="FFFFFE"/>
              </a:solidFill>
              <a:effectLst/>
              <a:latin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E"/>
                </a:solidFill>
                <a:effectLst/>
                <a:latin typeface="Arial" panose="020B0604020202020204" pitchFamily="34" charset="0"/>
              </a:rPr>
              <a:t>Research roles show higher satisfaction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DF2756-5C95-3A83-E8CD-9A6E66670A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1077" y="645107"/>
            <a:ext cx="3039615" cy="27103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996DD93-880D-4FB2-A57A-CE203ED11A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4204" y="3520086"/>
            <a:ext cx="3373361" cy="2710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2593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6AF07-E5F9-EBD6-A18E-4FD376C4B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>
            <a:extLst>
              <a:ext uri="{FF2B5EF4-FFF2-40B4-BE49-F238E27FC236}">
                <a16:creationId xmlns:a16="http://schemas.microsoft.com/office/drawing/2014/main" id="{72C6E0B7-C37D-4D54-8F3E-8D9F9097F6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B7B653ED-BC47-4D34-B612-473D6AFAD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6290102" y="977273"/>
            <a:ext cx="6053670" cy="4903455"/>
          </a:xfrm>
          <a:custGeom>
            <a:avLst/>
            <a:gdLst>
              <a:gd name="connsiteX0" fmla="*/ 6053670 w 6053670"/>
              <a:gd name="connsiteY0" fmla="*/ 1098 h 4903455"/>
              <a:gd name="connsiteX1" fmla="*/ 6053670 w 6053670"/>
              <a:gd name="connsiteY1" fmla="*/ 424590 h 4903455"/>
              <a:gd name="connsiteX2" fmla="*/ 6053670 w 6053670"/>
              <a:gd name="connsiteY2" fmla="*/ 1254558 h 4903455"/>
              <a:gd name="connsiteX3" fmla="*/ 6053670 w 6053670"/>
              <a:gd name="connsiteY3" fmla="*/ 4903455 h 4903455"/>
              <a:gd name="connsiteX4" fmla="*/ 0 w 6053670"/>
              <a:gd name="connsiteY4" fmla="*/ 4903455 h 4903455"/>
              <a:gd name="connsiteX5" fmla="*/ 0 w 6053670"/>
              <a:gd name="connsiteY5" fmla="*/ 1249853 h 4903455"/>
              <a:gd name="connsiteX6" fmla="*/ 0 w 6053670"/>
              <a:gd name="connsiteY6" fmla="*/ 424590 h 4903455"/>
              <a:gd name="connsiteX7" fmla="*/ 0 w 6053670"/>
              <a:gd name="connsiteY7" fmla="*/ 0 h 4903455"/>
              <a:gd name="connsiteX8" fmla="*/ 35717 w 6053670"/>
              <a:gd name="connsiteY8" fmla="*/ 5488 h 4903455"/>
              <a:gd name="connsiteX9" fmla="*/ 140445 w 6053670"/>
              <a:gd name="connsiteY9" fmla="*/ 21641 h 4903455"/>
              <a:gd name="connsiteX10" fmla="*/ 216722 w 6053670"/>
              <a:gd name="connsiteY10" fmla="*/ 32932 h 4903455"/>
              <a:gd name="connsiteX11" fmla="*/ 307527 w 6053670"/>
              <a:gd name="connsiteY11" fmla="*/ 44850 h 4903455"/>
              <a:gd name="connsiteX12" fmla="*/ 415282 w 6053670"/>
              <a:gd name="connsiteY12" fmla="*/ 59121 h 4903455"/>
              <a:gd name="connsiteX13" fmla="*/ 534539 w 6053670"/>
              <a:gd name="connsiteY13" fmla="*/ 74175 h 4903455"/>
              <a:gd name="connsiteX14" fmla="*/ 668931 w 6053670"/>
              <a:gd name="connsiteY14" fmla="*/ 90014 h 4903455"/>
              <a:gd name="connsiteX15" fmla="*/ 815430 w 6053670"/>
              <a:gd name="connsiteY15" fmla="*/ 106794 h 4903455"/>
              <a:gd name="connsiteX16" fmla="*/ 974641 w 6053670"/>
              <a:gd name="connsiteY16" fmla="*/ 123574 h 4903455"/>
              <a:gd name="connsiteX17" fmla="*/ 1144144 w 6053670"/>
              <a:gd name="connsiteY17" fmla="*/ 140667 h 4903455"/>
              <a:gd name="connsiteX18" fmla="*/ 1326965 w 6053670"/>
              <a:gd name="connsiteY18" fmla="*/ 156506 h 4903455"/>
              <a:gd name="connsiteX19" fmla="*/ 1518261 w 6053670"/>
              <a:gd name="connsiteY19" fmla="*/ 171717 h 4903455"/>
              <a:gd name="connsiteX20" fmla="*/ 1720453 w 6053670"/>
              <a:gd name="connsiteY20" fmla="*/ 185518 h 4903455"/>
              <a:gd name="connsiteX21" fmla="*/ 1931121 w 6053670"/>
              <a:gd name="connsiteY21" fmla="*/ 198690 h 4903455"/>
              <a:gd name="connsiteX22" fmla="*/ 2150869 w 6053670"/>
              <a:gd name="connsiteY22" fmla="*/ 211079 h 4903455"/>
              <a:gd name="connsiteX23" fmla="*/ 2263467 w 6053670"/>
              <a:gd name="connsiteY23" fmla="*/ 215470 h 4903455"/>
              <a:gd name="connsiteX24" fmla="*/ 2378487 w 6053670"/>
              <a:gd name="connsiteY24" fmla="*/ 220332 h 4903455"/>
              <a:gd name="connsiteX25" fmla="*/ 2495323 w 6053670"/>
              <a:gd name="connsiteY25" fmla="*/ 224879 h 4903455"/>
              <a:gd name="connsiteX26" fmla="*/ 2612764 w 6053670"/>
              <a:gd name="connsiteY26" fmla="*/ 227859 h 4903455"/>
              <a:gd name="connsiteX27" fmla="*/ 2732627 w 6053670"/>
              <a:gd name="connsiteY27" fmla="*/ 230525 h 4903455"/>
              <a:gd name="connsiteX28" fmla="*/ 2853700 w 6053670"/>
              <a:gd name="connsiteY28" fmla="*/ 233348 h 4903455"/>
              <a:gd name="connsiteX29" fmla="*/ 2977195 w 6053670"/>
              <a:gd name="connsiteY29" fmla="*/ 235229 h 4903455"/>
              <a:gd name="connsiteX30" fmla="*/ 3101900 w 6053670"/>
              <a:gd name="connsiteY30" fmla="*/ 235229 h 4903455"/>
              <a:gd name="connsiteX31" fmla="*/ 3227817 w 6053670"/>
              <a:gd name="connsiteY31" fmla="*/ 236170 h 4903455"/>
              <a:gd name="connsiteX32" fmla="*/ 3354944 w 6053670"/>
              <a:gd name="connsiteY32" fmla="*/ 235229 h 4903455"/>
              <a:gd name="connsiteX33" fmla="*/ 3483887 w 6053670"/>
              <a:gd name="connsiteY33" fmla="*/ 233348 h 4903455"/>
              <a:gd name="connsiteX34" fmla="*/ 3612830 w 6053670"/>
              <a:gd name="connsiteY34" fmla="*/ 231623 h 4903455"/>
              <a:gd name="connsiteX35" fmla="*/ 3743589 w 6053670"/>
              <a:gd name="connsiteY35" fmla="*/ 227859 h 4903455"/>
              <a:gd name="connsiteX36" fmla="*/ 3875559 w 6053670"/>
              <a:gd name="connsiteY36" fmla="*/ 223938 h 4903455"/>
              <a:gd name="connsiteX37" fmla="*/ 4007529 w 6053670"/>
              <a:gd name="connsiteY37" fmla="*/ 219391 h 4903455"/>
              <a:gd name="connsiteX38" fmla="*/ 4140710 w 6053670"/>
              <a:gd name="connsiteY38" fmla="*/ 212961 h 4903455"/>
              <a:gd name="connsiteX39" fmla="*/ 4275102 w 6053670"/>
              <a:gd name="connsiteY39" fmla="*/ 205277 h 4903455"/>
              <a:gd name="connsiteX40" fmla="*/ 4410098 w 6053670"/>
              <a:gd name="connsiteY40" fmla="*/ 197907 h 4903455"/>
              <a:gd name="connsiteX41" fmla="*/ 4545096 w 6053670"/>
              <a:gd name="connsiteY41" fmla="*/ 188498 h 4903455"/>
              <a:gd name="connsiteX42" fmla="*/ 4681909 w 6053670"/>
              <a:gd name="connsiteY42" fmla="*/ 177207 h 4903455"/>
              <a:gd name="connsiteX43" fmla="*/ 4816905 w 6053670"/>
              <a:gd name="connsiteY43" fmla="*/ 165916 h 4903455"/>
              <a:gd name="connsiteX44" fmla="*/ 4954323 w 6053670"/>
              <a:gd name="connsiteY44" fmla="*/ 152899 h 4903455"/>
              <a:gd name="connsiteX45" fmla="*/ 5092347 w 6053670"/>
              <a:gd name="connsiteY45" fmla="*/ 138629 h 4903455"/>
              <a:gd name="connsiteX46" fmla="*/ 5228555 w 6053670"/>
              <a:gd name="connsiteY46" fmla="*/ 123574 h 4903455"/>
              <a:gd name="connsiteX47" fmla="*/ 5366578 w 6053670"/>
              <a:gd name="connsiteY47" fmla="*/ 106010 h 4903455"/>
              <a:gd name="connsiteX48" fmla="*/ 5503997 w 6053670"/>
              <a:gd name="connsiteY48" fmla="*/ 87192 h 4903455"/>
              <a:gd name="connsiteX49" fmla="*/ 5642020 w 6053670"/>
              <a:gd name="connsiteY49" fmla="*/ 68530 h 4903455"/>
              <a:gd name="connsiteX50" fmla="*/ 5779438 w 6053670"/>
              <a:gd name="connsiteY50" fmla="*/ 46733 h 4903455"/>
              <a:gd name="connsiteX51" fmla="*/ 5916251 w 6053670"/>
              <a:gd name="connsiteY51" fmla="*/ 24464 h 4903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4903455">
                <a:moveTo>
                  <a:pt x="6053670" y="1098"/>
                </a:moveTo>
                <a:lnTo>
                  <a:pt x="6053670" y="424590"/>
                </a:lnTo>
                <a:lnTo>
                  <a:pt x="6053670" y="1254558"/>
                </a:lnTo>
                <a:lnTo>
                  <a:pt x="6053670" y="4903455"/>
                </a:lnTo>
                <a:lnTo>
                  <a:pt x="0" y="4903455"/>
                </a:lnTo>
                <a:lnTo>
                  <a:pt x="0" y="1249853"/>
                </a:lnTo>
                <a:lnTo>
                  <a:pt x="0" y="424590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0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89" y="227859"/>
                </a:lnTo>
                <a:lnTo>
                  <a:pt x="3875559" y="223938"/>
                </a:lnTo>
                <a:lnTo>
                  <a:pt x="4007529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4" name="Freeform 5">
            <a:extLst>
              <a:ext uri="{FF2B5EF4-FFF2-40B4-BE49-F238E27FC236}">
                <a16:creationId xmlns:a16="http://schemas.microsoft.com/office/drawing/2014/main" id="{B93D812D-BB26-4FDD-A218-F6F71E737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5" name="Freeform 5">
            <a:extLst>
              <a:ext uri="{FF2B5EF4-FFF2-40B4-BE49-F238E27FC236}">
                <a16:creationId xmlns:a16="http://schemas.microsoft.com/office/drawing/2014/main" id="{EEA99C6C-BC37-4408-9F74-3DDB1060B7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5376762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81C1CF-E0AF-1171-B2E1-ABBC8C4E7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918" y="1111764"/>
            <a:ext cx="6072776" cy="162232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E"/>
                </a:solidFill>
              </a:rPr>
              <a:t>Promotion Risk Analysis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24C0032-B592-45AB-AD23-5A4BD369B6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89BF1F84-E7C7-42A7-911D-8E48AF671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11000"/>
                </a:schemeClr>
              </a:gs>
              <a:gs pos="75000">
                <a:schemeClr val="accent5">
                  <a:alpha val="0"/>
                </a:schemeClr>
              </a:gs>
              <a:gs pos="36000">
                <a:schemeClr val="accent5"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0C3CFCFE-6522-4333-8CB1-16DB80E7E9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8000"/>
                </a:schemeClr>
              </a:gs>
              <a:gs pos="72000">
                <a:schemeClr val="accent5">
                  <a:alpha val="0"/>
                </a:schemeClr>
              </a:gs>
              <a:gs pos="36000">
                <a:schemeClr val="accent5"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F9AC1C1-4E8A-2FD4-E0A6-478097FA5CD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39098" y="2418735"/>
            <a:ext cx="6072776" cy="381174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R="0" lvl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E"/>
                </a:solidFill>
                <a:effectLst/>
                <a:latin typeface="Arial" panose="020B0604020202020204" pitchFamily="34" charset="0"/>
              </a:rPr>
              <a:t>215 employees are in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FFFFFE"/>
                </a:solidFill>
                <a:effectLst/>
                <a:latin typeface="Arial" panose="020B0604020202020204" pitchFamily="34" charset="0"/>
              </a:rPr>
              <a:t>high promotion risk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FFFFFE"/>
              </a:solidFill>
              <a:effectLst/>
              <a:latin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E"/>
                </a:solidFill>
                <a:effectLst/>
                <a:latin typeface="Arial" panose="020B0604020202020204" pitchFamily="34" charset="0"/>
              </a:rPr>
              <a:t>Strong correlation between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FFFFFE"/>
                </a:solidFill>
                <a:effectLst/>
                <a:latin typeface="Arial" panose="020B0604020202020204" pitchFamily="34" charset="0"/>
              </a:rPr>
              <a:t>promotion delays &amp; attrition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FFFFFE"/>
              </a:solidFill>
              <a:effectLst/>
              <a:latin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E"/>
                </a:solidFill>
                <a:effectLst/>
                <a:latin typeface="Arial" panose="020B0604020202020204" pitchFamily="34" charset="0"/>
              </a:rPr>
              <a:t>R&amp;D has the highest number of promotion delays</a:t>
            </a:r>
          </a:p>
          <a:p>
            <a:pPr marR="0" lvl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E"/>
                </a:solidFill>
                <a:effectLst/>
                <a:latin typeface="Arial" panose="020B0604020202020204" pitchFamily="34" charset="0"/>
              </a:rPr>
              <a:t>84.39% of high-risk employees eventually leave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6BE7D07-AD11-3DF6-66E5-95505A2B8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063" y="645107"/>
            <a:ext cx="3213643" cy="27103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8F0145E-E546-9173-E040-E4A2DF9599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888" y="3520086"/>
            <a:ext cx="3733993" cy="2710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5216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61DD4D-FEAC-847F-904E-183E22543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643780CE-2BE5-46F6-97B2-60DF30217E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61A87A49-68E6-459E-A5A6-46229FF421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171964" y="-140866"/>
            <a:ext cx="6053670" cy="7139732"/>
          </a:xfrm>
          <a:custGeom>
            <a:avLst/>
            <a:gdLst>
              <a:gd name="connsiteX0" fmla="*/ 6053670 w 6053670"/>
              <a:gd name="connsiteY0" fmla="*/ 1098 h 7139732"/>
              <a:gd name="connsiteX1" fmla="*/ 6053670 w 6053670"/>
              <a:gd name="connsiteY1" fmla="*/ 1084479 h 7139732"/>
              <a:gd name="connsiteX2" fmla="*/ 6053670 w 6053670"/>
              <a:gd name="connsiteY2" fmla="*/ 1254558 h 7139732"/>
              <a:gd name="connsiteX3" fmla="*/ 6053670 w 6053670"/>
              <a:gd name="connsiteY3" fmla="*/ 7139732 h 7139732"/>
              <a:gd name="connsiteX4" fmla="*/ 0 w 6053670"/>
              <a:gd name="connsiteY4" fmla="*/ 7139732 h 7139732"/>
              <a:gd name="connsiteX5" fmla="*/ 0 w 6053670"/>
              <a:gd name="connsiteY5" fmla="*/ 1249853 h 7139732"/>
              <a:gd name="connsiteX6" fmla="*/ 0 w 6053670"/>
              <a:gd name="connsiteY6" fmla="*/ 1084479 h 7139732"/>
              <a:gd name="connsiteX7" fmla="*/ 0 w 6053670"/>
              <a:gd name="connsiteY7" fmla="*/ 0 h 7139732"/>
              <a:gd name="connsiteX8" fmla="*/ 35717 w 6053670"/>
              <a:gd name="connsiteY8" fmla="*/ 5488 h 7139732"/>
              <a:gd name="connsiteX9" fmla="*/ 140445 w 6053670"/>
              <a:gd name="connsiteY9" fmla="*/ 21641 h 7139732"/>
              <a:gd name="connsiteX10" fmla="*/ 216722 w 6053670"/>
              <a:gd name="connsiteY10" fmla="*/ 32932 h 7139732"/>
              <a:gd name="connsiteX11" fmla="*/ 307527 w 6053670"/>
              <a:gd name="connsiteY11" fmla="*/ 44850 h 7139732"/>
              <a:gd name="connsiteX12" fmla="*/ 415282 w 6053670"/>
              <a:gd name="connsiteY12" fmla="*/ 59121 h 7139732"/>
              <a:gd name="connsiteX13" fmla="*/ 534539 w 6053670"/>
              <a:gd name="connsiteY13" fmla="*/ 74175 h 7139732"/>
              <a:gd name="connsiteX14" fmla="*/ 668931 w 6053670"/>
              <a:gd name="connsiteY14" fmla="*/ 90014 h 7139732"/>
              <a:gd name="connsiteX15" fmla="*/ 815430 w 6053670"/>
              <a:gd name="connsiteY15" fmla="*/ 106794 h 7139732"/>
              <a:gd name="connsiteX16" fmla="*/ 974641 w 6053670"/>
              <a:gd name="connsiteY16" fmla="*/ 123574 h 7139732"/>
              <a:gd name="connsiteX17" fmla="*/ 1144144 w 6053670"/>
              <a:gd name="connsiteY17" fmla="*/ 140667 h 7139732"/>
              <a:gd name="connsiteX18" fmla="*/ 1326965 w 6053670"/>
              <a:gd name="connsiteY18" fmla="*/ 156506 h 7139732"/>
              <a:gd name="connsiteX19" fmla="*/ 1518261 w 6053670"/>
              <a:gd name="connsiteY19" fmla="*/ 171717 h 7139732"/>
              <a:gd name="connsiteX20" fmla="*/ 1720453 w 6053670"/>
              <a:gd name="connsiteY20" fmla="*/ 185518 h 7139732"/>
              <a:gd name="connsiteX21" fmla="*/ 1931121 w 6053670"/>
              <a:gd name="connsiteY21" fmla="*/ 198690 h 7139732"/>
              <a:gd name="connsiteX22" fmla="*/ 2150869 w 6053670"/>
              <a:gd name="connsiteY22" fmla="*/ 211079 h 7139732"/>
              <a:gd name="connsiteX23" fmla="*/ 2263467 w 6053670"/>
              <a:gd name="connsiteY23" fmla="*/ 215470 h 7139732"/>
              <a:gd name="connsiteX24" fmla="*/ 2378487 w 6053670"/>
              <a:gd name="connsiteY24" fmla="*/ 220332 h 7139732"/>
              <a:gd name="connsiteX25" fmla="*/ 2495323 w 6053670"/>
              <a:gd name="connsiteY25" fmla="*/ 224879 h 7139732"/>
              <a:gd name="connsiteX26" fmla="*/ 2612764 w 6053670"/>
              <a:gd name="connsiteY26" fmla="*/ 227859 h 7139732"/>
              <a:gd name="connsiteX27" fmla="*/ 2732627 w 6053670"/>
              <a:gd name="connsiteY27" fmla="*/ 230525 h 7139732"/>
              <a:gd name="connsiteX28" fmla="*/ 2853700 w 6053670"/>
              <a:gd name="connsiteY28" fmla="*/ 233348 h 7139732"/>
              <a:gd name="connsiteX29" fmla="*/ 2977195 w 6053670"/>
              <a:gd name="connsiteY29" fmla="*/ 235229 h 7139732"/>
              <a:gd name="connsiteX30" fmla="*/ 3101901 w 6053670"/>
              <a:gd name="connsiteY30" fmla="*/ 235229 h 7139732"/>
              <a:gd name="connsiteX31" fmla="*/ 3227817 w 6053670"/>
              <a:gd name="connsiteY31" fmla="*/ 236170 h 7139732"/>
              <a:gd name="connsiteX32" fmla="*/ 3354944 w 6053670"/>
              <a:gd name="connsiteY32" fmla="*/ 235229 h 7139732"/>
              <a:gd name="connsiteX33" fmla="*/ 3483887 w 6053670"/>
              <a:gd name="connsiteY33" fmla="*/ 233348 h 7139732"/>
              <a:gd name="connsiteX34" fmla="*/ 3612830 w 6053670"/>
              <a:gd name="connsiteY34" fmla="*/ 231623 h 7139732"/>
              <a:gd name="connsiteX35" fmla="*/ 3743590 w 6053670"/>
              <a:gd name="connsiteY35" fmla="*/ 227859 h 7139732"/>
              <a:gd name="connsiteX36" fmla="*/ 3875560 w 6053670"/>
              <a:gd name="connsiteY36" fmla="*/ 223938 h 7139732"/>
              <a:gd name="connsiteX37" fmla="*/ 4007530 w 6053670"/>
              <a:gd name="connsiteY37" fmla="*/ 219391 h 7139732"/>
              <a:gd name="connsiteX38" fmla="*/ 4140710 w 6053670"/>
              <a:gd name="connsiteY38" fmla="*/ 212961 h 7139732"/>
              <a:gd name="connsiteX39" fmla="*/ 4275102 w 6053670"/>
              <a:gd name="connsiteY39" fmla="*/ 205277 h 7139732"/>
              <a:gd name="connsiteX40" fmla="*/ 4410098 w 6053670"/>
              <a:gd name="connsiteY40" fmla="*/ 197907 h 7139732"/>
              <a:gd name="connsiteX41" fmla="*/ 4545096 w 6053670"/>
              <a:gd name="connsiteY41" fmla="*/ 188498 h 7139732"/>
              <a:gd name="connsiteX42" fmla="*/ 4681909 w 6053670"/>
              <a:gd name="connsiteY42" fmla="*/ 177207 h 7139732"/>
              <a:gd name="connsiteX43" fmla="*/ 4816905 w 6053670"/>
              <a:gd name="connsiteY43" fmla="*/ 165916 h 7139732"/>
              <a:gd name="connsiteX44" fmla="*/ 4954323 w 6053670"/>
              <a:gd name="connsiteY44" fmla="*/ 152899 h 7139732"/>
              <a:gd name="connsiteX45" fmla="*/ 5092347 w 6053670"/>
              <a:gd name="connsiteY45" fmla="*/ 138629 h 7139732"/>
              <a:gd name="connsiteX46" fmla="*/ 5228555 w 6053670"/>
              <a:gd name="connsiteY46" fmla="*/ 123574 h 7139732"/>
              <a:gd name="connsiteX47" fmla="*/ 5366578 w 6053670"/>
              <a:gd name="connsiteY47" fmla="*/ 106010 h 7139732"/>
              <a:gd name="connsiteX48" fmla="*/ 5503997 w 6053670"/>
              <a:gd name="connsiteY48" fmla="*/ 87192 h 7139732"/>
              <a:gd name="connsiteX49" fmla="*/ 5642020 w 6053670"/>
              <a:gd name="connsiteY49" fmla="*/ 68530 h 7139732"/>
              <a:gd name="connsiteX50" fmla="*/ 5779438 w 6053670"/>
              <a:gd name="connsiteY50" fmla="*/ 46733 h 7139732"/>
              <a:gd name="connsiteX51" fmla="*/ 5916251 w 6053670"/>
              <a:gd name="connsiteY51" fmla="*/ 24464 h 7139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7139732">
                <a:moveTo>
                  <a:pt x="6053670" y="1098"/>
                </a:moveTo>
                <a:lnTo>
                  <a:pt x="6053670" y="1084479"/>
                </a:lnTo>
                <a:lnTo>
                  <a:pt x="6053670" y="1254558"/>
                </a:lnTo>
                <a:lnTo>
                  <a:pt x="6053670" y="7139732"/>
                </a:lnTo>
                <a:lnTo>
                  <a:pt x="0" y="7139732"/>
                </a:lnTo>
                <a:lnTo>
                  <a:pt x="0" y="1249853"/>
                </a:lnTo>
                <a:lnTo>
                  <a:pt x="0" y="1084479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1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90" y="227859"/>
                </a:lnTo>
                <a:lnTo>
                  <a:pt x="3875560" y="223938"/>
                </a:lnTo>
                <a:lnTo>
                  <a:pt x="4007530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Freeform 5">
            <a:extLst>
              <a:ext uri="{FF2B5EF4-FFF2-40B4-BE49-F238E27FC236}">
                <a16:creationId xmlns:a16="http://schemas.microsoft.com/office/drawing/2014/main" id="{F6ACD5FC-CAFE-48EB-B765-60EED2E052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C4ADCE-ED19-7DA2-D90C-4CBD51AB3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8"/>
            <a:ext cx="2942210" cy="102023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500">
                <a:solidFill>
                  <a:srgbClr val="EBEBEB"/>
                </a:solidFill>
              </a:rPr>
              <a:t>High-Risk Employee Insights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F143D9-CEB2-9B8D-B796-01679E01F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4607" y="1735244"/>
            <a:ext cx="6391533" cy="3387512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9F33B405-D785-4738-B1C0-6A0AA5E982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233DC0E-DE6C-4FB6-A529-51B162641A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11000"/>
                </a:schemeClr>
              </a:gs>
              <a:gs pos="75000">
                <a:schemeClr val="accent5">
                  <a:alpha val="0"/>
                </a:schemeClr>
              </a:gs>
              <a:gs pos="36000">
                <a:schemeClr val="accent5"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3870477F-E451-4BC3-863F-0E2FC5728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8000"/>
                </a:schemeClr>
              </a:gs>
              <a:gs pos="72000">
                <a:schemeClr val="accent5">
                  <a:alpha val="0"/>
                </a:schemeClr>
              </a:gs>
              <a:gs pos="36000">
                <a:schemeClr val="accent5"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2137F5A-8C35-3B60-FDBB-3822B868DF9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54955" y="2120900"/>
            <a:ext cx="3133726" cy="38989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R="0" lvl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Employees with </a:t>
            </a:r>
            <a:r>
              <a:rPr kumimoji="0" lang="en-US" altLang="en-US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13–15 years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no promotion highest risk</a:t>
            </a:r>
            <a:br>
              <a:rPr kumimoji="0" lang="en-US" altLang="en-US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b="0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R&amp;D dominates high-risk list</a:t>
            </a:r>
            <a:br>
              <a:rPr kumimoji="0" lang="en-US" altLang="en-US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b="0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Critical affected roles:</a:t>
            </a:r>
            <a:br>
              <a:rPr kumimoji="0" lang="en-US" altLang="en-US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b="0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 lvl="1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Lab Technician</a:t>
            </a:r>
          </a:p>
          <a:p>
            <a:pPr lvl="1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Sales Executive</a:t>
            </a:r>
          </a:p>
          <a:p>
            <a:pPr lvl="1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Healthcare Rep</a:t>
            </a:r>
          </a:p>
          <a:p>
            <a:pPr lvl="1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Manufacturing Director</a:t>
            </a:r>
          </a:p>
          <a:p>
            <a:pPr marR="0" lvl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  <a:tabLst/>
            </a:pPr>
            <a:endParaRPr kumimoji="0" lang="en-US" altLang="en-US" b="0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0" name="Freeform 5">
            <a:extLst>
              <a:ext uri="{FF2B5EF4-FFF2-40B4-BE49-F238E27FC236}">
                <a16:creationId xmlns:a16="http://schemas.microsoft.com/office/drawing/2014/main" id="{B4A81DE1-E2BC-4A31-99EE-71350421B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3140485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0749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12677-8FAF-A929-971C-0F24D54B5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F302F-8248-9ADC-DF84-145394564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Recommendations &amp; Conclusion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52225AB-6F03-EDAB-06DE-00BE7007ED5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07429" y="2420461"/>
            <a:ext cx="5288627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Improve promotion cycle transparency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Focus on career development programs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Revisit workload distribution in R&amp;D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Retention plans for mid-experience employees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Salary benchmarking for competitive roles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AD6ED1-5337-4EF3-B656-4F82F29630F6}"/>
              </a:ext>
            </a:extLst>
          </p:cNvPr>
          <p:cNvSpPr txBox="1"/>
          <p:nvPr/>
        </p:nvSpPr>
        <p:spPr>
          <a:xfrm>
            <a:off x="1285875" y="4429036"/>
            <a:ext cx="981075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b="1" u="sng" dirty="0">
                <a:latin typeface="Arial" panose="020B0604020202020204" pitchFamily="34" charset="0"/>
              </a:rPr>
              <a:t>Conclusion:</a:t>
            </a:r>
            <a:br>
              <a:rPr lang="en-US" sz="2400" b="1" u="sng" dirty="0">
                <a:latin typeface="Arial" panose="020B0604020202020204" pitchFamily="34" charset="0"/>
              </a:rPr>
            </a:br>
            <a:endParaRPr lang="en-US" sz="2400" b="1" u="sng" dirty="0">
              <a:latin typeface="Arial" panose="020B0604020202020204" pitchFamily="34" charset="0"/>
            </a:endParaRPr>
          </a:p>
          <a:p>
            <a:pPr algn="ctr">
              <a:buNone/>
            </a:pPr>
            <a:r>
              <a:rPr lang="en-US" dirty="0">
                <a:latin typeface="Arial" panose="020B0604020202020204" pitchFamily="34" charset="0"/>
              </a:rPr>
              <a:t>This HR Analytics Dashboard provides actionable insights for reducing attrition and improving employee satisfaction.</a:t>
            </a:r>
          </a:p>
        </p:txBody>
      </p:sp>
    </p:spTree>
    <p:extLst>
      <p:ext uri="{BB962C8B-B14F-4D97-AF65-F5344CB8AC3E}">
        <p14:creationId xmlns:p14="http://schemas.microsoft.com/office/powerpoint/2010/main" val="42451769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81</TotalTime>
  <Words>402</Words>
  <Application>Microsoft Office PowerPoint</Application>
  <PresentationFormat>Widescreen</PresentationFormat>
  <Paragraphs>74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Century Gothic</vt:lpstr>
      <vt:lpstr>Wingdings</vt:lpstr>
      <vt:lpstr>Wingdings 3</vt:lpstr>
      <vt:lpstr>Ion Boardroom</vt:lpstr>
      <vt:lpstr>PowerPoint Presentation</vt:lpstr>
      <vt:lpstr>HR Analytics Dashboard </vt:lpstr>
      <vt:lpstr>PowerPoint Presentation</vt:lpstr>
      <vt:lpstr>PowerPoint Presentation</vt:lpstr>
      <vt:lpstr>PowerPoint Presentation</vt:lpstr>
      <vt:lpstr> Objective of Analysis:</vt:lpstr>
      <vt:lpstr>Tools Used</vt:lpstr>
      <vt:lpstr>Dataset Overview</vt:lpstr>
      <vt:lpstr>Key Metrics (KPIs)</vt:lpstr>
      <vt:lpstr>Attrition Analysis</vt:lpstr>
      <vt:lpstr>Workforce Demographics</vt:lpstr>
      <vt:lpstr>Education &amp; Job Role Insights</vt:lpstr>
      <vt:lpstr>Promotion Risk Analysis</vt:lpstr>
      <vt:lpstr>High-Risk Employee Insights</vt:lpstr>
      <vt:lpstr>Recommendations &amp; 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</dc:creator>
  <cp:lastModifiedBy>Office</cp:lastModifiedBy>
  <cp:revision>3</cp:revision>
  <dcterms:created xsi:type="dcterms:W3CDTF">2025-11-29T14:43:49Z</dcterms:created>
  <dcterms:modified xsi:type="dcterms:W3CDTF">2025-11-29T16:04:55Z</dcterms:modified>
</cp:coreProperties>
</file>